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1625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46" d="100"/>
          <a:sy n="46" d="100"/>
        </p:scale>
        <p:origin x="30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60416"/>
            <a:ext cx="10363200" cy="5659496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8538164"/>
            <a:ext cx="9144000" cy="3924769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F07A2-9517-4524-90FA-0BA0866290B2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9E725-CD9C-4AB2-998D-296647196C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5102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F07A2-9517-4524-90FA-0BA0866290B2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9E725-CD9C-4AB2-998D-296647196C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2560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052716"/>
            <a:ext cx="10515600" cy="6762043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0878731"/>
            <a:ext cx="10515600" cy="355599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F07A2-9517-4524-90FA-0BA0866290B2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9E725-CD9C-4AB2-998D-296647196C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0424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4327407"/>
            <a:ext cx="5181600" cy="103142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4327407"/>
            <a:ext cx="5181600" cy="103142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F07A2-9517-4524-90FA-0BA0866290B2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9E725-CD9C-4AB2-998D-296647196C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8199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5485"/>
            <a:ext cx="10515600" cy="314207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984979"/>
            <a:ext cx="5157787" cy="195297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5937956"/>
            <a:ext cx="5157787" cy="87338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984979"/>
            <a:ext cx="5183188" cy="195297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5937956"/>
            <a:ext cx="5183188" cy="87338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F07A2-9517-4524-90FA-0BA0866290B2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9E725-CD9C-4AB2-998D-296647196C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9520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F07A2-9517-4524-90FA-0BA0866290B2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9E725-CD9C-4AB2-998D-296647196C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9569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F07A2-9517-4524-90FA-0BA0866290B2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9E725-CD9C-4AB2-998D-296647196C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377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83733"/>
            <a:ext cx="3932237" cy="379306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340567"/>
            <a:ext cx="6172200" cy="11552296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76800"/>
            <a:ext cx="3932237" cy="903487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F07A2-9517-4524-90FA-0BA0866290B2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9E725-CD9C-4AB2-998D-296647196C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9834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83733"/>
            <a:ext cx="3932237" cy="379306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340567"/>
            <a:ext cx="6172200" cy="11552296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76800"/>
            <a:ext cx="3932237" cy="903487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F07A2-9517-4524-90FA-0BA0866290B2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9E725-CD9C-4AB2-998D-296647196C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5595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F07A2-9517-4524-90FA-0BA0866290B2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9E725-CD9C-4AB2-998D-296647196C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3329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865481"/>
            <a:ext cx="2628900" cy="1377620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865481"/>
            <a:ext cx="7734300" cy="1377620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F07A2-9517-4524-90FA-0BA0866290B2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9E725-CD9C-4AB2-998D-296647196C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6689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865485"/>
            <a:ext cx="10515600" cy="3142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327407"/>
            <a:ext cx="10515600" cy="10314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5066908"/>
            <a:ext cx="27432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6F07A2-9517-4524-90FA-0BA0866290B2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5066908"/>
            <a:ext cx="41148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5066908"/>
            <a:ext cx="27432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E9E725-CD9C-4AB2-998D-296647196C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9147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78A2BB-FCD3-D98E-3BB4-3D7805A67D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1090F09-BD05-1DA1-27EA-44F4391956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8CC3CDF-9446-C3F3-1F8E-DF451D76E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8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947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1B42DE-0457-4CB6-08B6-EC0C5A15E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72"/>
            <a:ext cx="10515600" cy="3142075"/>
          </a:xfrm>
        </p:spPr>
        <p:txBody>
          <a:bodyPr>
            <a:normAutofit/>
          </a:bodyPr>
          <a:lstStyle/>
          <a:p>
            <a:r>
              <a:rPr lang="pt-BR" sz="40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Começando do Zero: Construindo Interfaces com HTML e </a:t>
            </a:r>
            <a:r>
              <a:rPr lang="pt-BR" sz="4000" b="1" dirty="0" err="1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React</a:t>
            </a:r>
            <a:endParaRPr lang="pt-BR" sz="4000" b="1" dirty="0">
              <a:solidFill>
                <a:schemeClr val="accent1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A80B04-7058-519D-F36E-C77FAAAE2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7727"/>
            <a:ext cx="10861964" cy="13321146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pt-BR" sz="7000" dirty="0">
                <a:latin typeface="Arial" panose="020B0604020202020204" pitchFamily="34" charset="0"/>
                <a:cs typeface="Arial" panose="020B0604020202020204" pitchFamily="34" charset="0"/>
              </a:rPr>
              <a:t>Sumário</a:t>
            </a:r>
          </a:p>
          <a:p>
            <a:pPr marL="0" indent="0">
              <a:buNone/>
            </a:pPr>
            <a:endParaRPr lang="pt-BR" sz="7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7000" dirty="0">
                <a:latin typeface="Arial" panose="020B0604020202020204" pitchFamily="34" charset="0"/>
                <a:cs typeface="Arial" panose="020B0604020202020204" pitchFamily="34" charset="0"/>
              </a:rPr>
              <a:t>Introdução</a:t>
            </a:r>
          </a:p>
          <a:p>
            <a:pPr lvl="1"/>
            <a:r>
              <a:rPr lang="pt-BR" sz="4500" dirty="0">
                <a:latin typeface="Arial" panose="020B0604020202020204" pitchFamily="34" charset="0"/>
                <a:cs typeface="Arial" panose="020B0604020202020204" pitchFamily="34" charset="0"/>
              </a:rPr>
              <a:t>O que é Desenvolvimento Web?</a:t>
            </a:r>
          </a:p>
          <a:p>
            <a:pPr lvl="1"/>
            <a:r>
              <a:rPr lang="pt-BR" sz="4500" dirty="0">
                <a:latin typeface="Arial" panose="020B0604020202020204" pitchFamily="34" charset="0"/>
                <a:cs typeface="Arial" panose="020B0604020202020204" pitchFamily="34" charset="0"/>
              </a:rPr>
              <a:t>Como este e-book funciona</a:t>
            </a:r>
          </a:p>
          <a:p>
            <a:pPr lvl="1"/>
            <a:r>
              <a:rPr lang="pt-BR" sz="4500" dirty="0">
                <a:latin typeface="Arial" panose="020B0604020202020204" pitchFamily="34" charset="0"/>
                <a:cs typeface="Arial" panose="020B0604020202020204" pitchFamily="34" charset="0"/>
              </a:rPr>
              <a:t>O que você vai aprender</a:t>
            </a:r>
          </a:p>
          <a:p>
            <a:r>
              <a:rPr lang="pt-BR" sz="7000" dirty="0">
                <a:latin typeface="Arial" panose="020B0604020202020204" pitchFamily="34" charset="0"/>
                <a:cs typeface="Arial" panose="020B0604020202020204" pitchFamily="34" charset="0"/>
              </a:rPr>
              <a:t>Fundamentos do HTML</a:t>
            </a:r>
          </a:p>
          <a:p>
            <a:pPr lvl="1"/>
            <a:r>
              <a:rPr lang="pt-BR" sz="4500" dirty="0">
                <a:latin typeface="Arial" panose="020B0604020202020204" pitchFamily="34" charset="0"/>
                <a:cs typeface="Arial" panose="020B0604020202020204" pitchFamily="34" charset="0"/>
              </a:rPr>
              <a:t>Estrutura básica de um documento HTML</a:t>
            </a:r>
          </a:p>
          <a:p>
            <a:pPr lvl="1"/>
            <a:r>
              <a:rPr lang="pt-BR" sz="4500" dirty="0" err="1">
                <a:latin typeface="Arial" panose="020B0604020202020204" pitchFamily="34" charset="0"/>
                <a:cs typeface="Arial" panose="020B0604020202020204" pitchFamily="34" charset="0"/>
              </a:rPr>
              <a:t>Tags</a:t>
            </a:r>
            <a:r>
              <a:rPr lang="pt-BR" sz="4500" dirty="0">
                <a:latin typeface="Arial" panose="020B0604020202020204" pitchFamily="34" charset="0"/>
                <a:cs typeface="Arial" panose="020B0604020202020204" pitchFamily="34" charset="0"/>
              </a:rPr>
              <a:t> essenciais</a:t>
            </a:r>
          </a:p>
          <a:p>
            <a:pPr lvl="1"/>
            <a:r>
              <a:rPr lang="pt-BR" sz="4500" dirty="0">
                <a:latin typeface="Arial" panose="020B0604020202020204" pitchFamily="34" charset="0"/>
                <a:cs typeface="Arial" panose="020B0604020202020204" pitchFamily="34" charset="0"/>
              </a:rPr>
              <a:t>Atributos</a:t>
            </a:r>
          </a:p>
          <a:p>
            <a:pPr lvl="1"/>
            <a:r>
              <a:rPr lang="pt-BR" sz="4500" dirty="0">
                <a:latin typeface="Arial" panose="020B0604020202020204" pitchFamily="34" charset="0"/>
                <a:cs typeface="Arial" panose="020B0604020202020204" pitchFamily="34" charset="0"/>
              </a:rPr>
              <a:t>Exercícios</a:t>
            </a:r>
          </a:p>
          <a:p>
            <a:r>
              <a:rPr lang="pt-BR" sz="7000" dirty="0">
                <a:latin typeface="Arial" panose="020B0604020202020204" pitchFamily="34" charset="0"/>
                <a:cs typeface="Arial" panose="020B0604020202020204" pitchFamily="34" charset="0"/>
              </a:rPr>
              <a:t>Estruturando Páginas Web</a:t>
            </a:r>
          </a:p>
          <a:p>
            <a:pPr lvl="1"/>
            <a:r>
              <a:rPr lang="pt-BR" sz="4500" dirty="0">
                <a:latin typeface="Arial" panose="020B0604020202020204" pitchFamily="34" charset="0"/>
                <a:cs typeface="Arial" panose="020B0604020202020204" pitchFamily="34" charset="0"/>
              </a:rPr>
              <a:t>Hierarquia e semântica</a:t>
            </a:r>
          </a:p>
          <a:p>
            <a:pPr lvl="1"/>
            <a:r>
              <a:rPr lang="pt-BR" sz="4500" dirty="0" err="1">
                <a:latin typeface="Arial" panose="020B0604020202020204" pitchFamily="34" charset="0"/>
                <a:cs typeface="Arial" panose="020B0604020202020204" pitchFamily="34" charset="0"/>
              </a:rPr>
              <a:t>Divs</a:t>
            </a:r>
            <a:r>
              <a:rPr lang="pt-BR" sz="4500" dirty="0">
                <a:latin typeface="Arial" panose="020B0604020202020204" pitchFamily="34" charset="0"/>
                <a:cs typeface="Arial" panose="020B0604020202020204" pitchFamily="34" charset="0"/>
              </a:rPr>
              <a:t>, seções e organização</a:t>
            </a:r>
          </a:p>
          <a:p>
            <a:pPr lvl="1"/>
            <a:r>
              <a:rPr lang="pt-BR" sz="4500" dirty="0">
                <a:latin typeface="Arial" panose="020B0604020202020204" pitchFamily="34" charset="0"/>
                <a:cs typeface="Arial" panose="020B0604020202020204" pitchFamily="34" charset="0"/>
              </a:rPr>
              <a:t>Inserindo textos, links e mídia</a:t>
            </a:r>
          </a:p>
          <a:p>
            <a:pPr lvl="1"/>
            <a:r>
              <a:rPr lang="pt-BR" sz="4500" dirty="0">
                <a:latin typeface="Arial" panose="020B0604020202020204" pitchFamily="34" charset="0"/>
                <a:cs typeface="Arial" panose="020B0604020202020204" pitchFamily="34" charset="0"/>
              </a:rPr>
              <a:t>Introdução ao CSS para estilizar HTML</a:t>
            </a:r>
          </a:p>
          <a:p>
            <a:pPr lvl="1"/>
            <a:r>
              <a:rPr lang="pt-BR" sz="4500" dirty="0">
                <a:latin typeface="Arial" panose="020B0604020202020204" pitchFamily="34" charset="0"/>
                <a:cs typeface="Arial" panose="020B0604020202020204" pitchFamily="34" charset="0"/>
              </a:rPr>
              <a:t>Exercícios</a:t>
            </a:r>
          </a:p>
          <a:p>
            <a:r>
              <a:rPr lang="pt-BR" sz="7000" dirty="0">
                <a:latin typeface="Arial" panose="020B0604020202020204" pitchFamily="34" charset="0"/>
                <a:cs typeface="Arial" panose="020B0604020202020204" pitchFamily="34" charset="0"/>
              </a:rPr>
              <a:t>Entrando no Mundo do </a:t>
            </a:r>
            <a:r>
              <a:rPr lang="pt-BR" sz="7000" dirty="0" err="1"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endParaRPr lang="pt-BR" sz="7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4500" dirty="0">
                <a:latin typeface="Arial" panose="020B0604020202020204" pitchFamily="34" charset="0"/>
                <a:cs typeface="Arial" panose="020B0604020202020204" pitchFamily="34" charset="0"/>
              </a:rPr>
              <a:t>O que é </a:t>
            </a:r>
            <a:r>
              <a:rPr lang="pt-BR" sz="4500" dirty="0" err="1"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r>
              <a:rPr lang="pt-BR" sz="4500" dirty="0">
                <a:latin typeface="Arial" panose="020B0604020202020204" pitchFamily="34" charset="0"/>
                <a:cs typeface="Arial" panose="020B0604020202020204" pitchFamily="34" charset="0"/>
              </a:rPr>
              <a:t> e por que usar</a:t>
            </a:r>
          </a:p>
          <a:p>
            <a:pPr lvl="1"/>
            <a:r>
              <a:rPr lang="pt-BR" sz="4500" dirty="0">
                <a:latin typeface="Arial" panose="020B0604020202020204" pitchFamily="34" charset="0"/>
                <a:cs typeface="Arial" panose="020B0604020202020204" pitchFamily="34" charset="0"/>
              </a:rPr>
              <a:t>Criando um projeto</a:t>
            </a:r>
          </a:p>
          <a:p>
            <a:pPr lvl="1"/>
            <a:r>
              <a:rPr lang="pt-BR" sz="4500" dirty="0">
                <a:latin typeface="Arial" panose="020B0604020202020204" pitchFamily="34" charset="0"/>
                <a:cs typeface="Arial" panose="020B0604020202020204" pitchFamily="34" charset="0"/>
              </a:rPr>
              <a:t>Como o </a:t>
            </a:r>
            <a:r>
              <a:rPr lang="pt-BR" sz="4500" dirty="0" err="1"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r>
              <a:rPr lang="pt-BR" sz="4500" dirty="0">
                <a:latin typeface="Arial" panose="020B0604020202020204" pitchFamily="34" charset="0"/>
                <a:cs typeface="Arial" panose="020B0604020202020204" pitchFamily="34" charset="0"/>
              </a:rPr>
              <a:t> funciona</a:t>
            </a:r>
          </a:p>
          <a:p>
            <a:pPr lvl="1"/>
            <a:r>
              <a:rPr lang="pt-BR" sz="4500" dirty="0">
                <a:latin typeface="Arial" panose="020B0604020202020204" pitchFamily="34" charset="0"/>
                <a:cs typeface="Arial" panose="020B0604020202020204" pitchFamily="34" charset="0"/>
              </a:rPr>
              <a:t>JSX: HTML dentro do </a:t>
            </a:r>
            <a:r>
              <a:rPr lang="pt-BR" sz="4500" dirty="0" err="1"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endParaRPr lang="pt-BR" sz="4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4500" dirty="0">
                <a:latin typeface="Arial" panose="020B0604020202020204" pitchFamily="34" charset="0"/>
                <a:cs typeface="Arial" panose="020B0604020202020204" pitchFamily="34" charset="0"/>
              </a:rPr>
              <a:t>Exercícios</a:t>
            </a:r>
          </a:p>
          <a:p>
            <a:r>
              <a:rPr lang="pt-BR" sz="7000" dirty="0">
                <a:latin typeface="Arial" panose="020B0604020202020204" pitchFamily="34" charset="0"/>
                <a:cs typeface="Arial" panose="020B0604020202020204" pitchFamily="34" charset="0"/>
              </a:rPr>
              <a:t>Componentes no </a:t>
            </a:r>
            <a:r>
              <a:rPr lang="pt-BR" sz="7000" dirty="0" err="1"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endParaRPr lang="pt-BR" sz="7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4500" dirty="0">
                <a:latin typeface="Arial" panose="020B0604020202020204" pitchFamily="34" charset="0"/>
                <a:cs typeface="Arial" panose="020B0604020202020204" pitchFamily="34" charset="0"/>
              </a:rPr>
              <a:t>O que são componentes</a:t>
            </a:r>
          </a:p>
          <a:p>
            <a:pPr lvl="1"/>
            <a:r>
              <a:rPr lang="pt-BR" sz="4500" dirty="0">
                <a:latin typeface="Arial" panose="020B0604020202020204" pitchFamily="34" charset="0"/>
                <a:cs typeface="Arial" panose="020B0604020202020204" pitchFamily="34" charset="0"/>
              </a:rPr>
              <a:t>Componentes funcionais</a:t>
            </a:r>
          </a:p>
          <a:p>
            <a:pPr lvl="1"/>
            <a:r>
              <a:rPr lang="pt-BR" sz="4500" dirty="0" err="1">
                <a:latin typeface="Arial" panose="020B0604020202020204" pitchFamily="34" charset="0"/>
                <a:cs typeface="Arial" panose="020B0604020202020204" pitchFamily="34" charset="0"/>
              </a:rPr>
              <a:t>Props</a:t>
            </a:r>
            <a:r>
              <a:rPr lang="pt-BR" sz="4500" dirty="0">
                <a:latin typeface="Arial" panose="020B0604020202020204" pitchFamily="34" charset="0"/>
                <a:cs typeface="Arial" panose="020B0604020202020204" pitchFamily="34" charset="0"/>
              </a:rPr>
              <a:t> e estados</a:t>
            </a:r>
          </a:p>
          <a:p>
            <a:pPr lvl="1"/>
            <a:r>
              <a:rPr lang="pt-BR" sz="4500" dirty="0">
                <a:latin typeface="Arial" panose="020B0604020202020204" pitchFamily="34" charset="0"/>
                <a:cs typeface="Arial" panose="020B0604020202020204" pitchFamily="34" charset="0"/>
              </a:rPr>
              <a:t>Estilizando componentes</a:t>
            </a:r>
          </a:p>
          <a:p>
            <a:pPr lvl="1"/>
            <a:r>
              <a:rPr lang="pt-BR" sz="4500" dirty="0">
                <a:latin typeface="Arial" panose="020B0604020202020204" pitchFamily="34" charset="0"/>
                <a:cs typeface="Arial" panose="020B0604020202020204" pitchFamily="34" charset="0"/>
              </a:rPr>
              <a:t>Exercícios</a:t>
            </a:r>
          </a:p>
          <a:p>
            <a:r>
              <a:rPr lang="pt-BR" sz="7000" dirty="0">
                <a:latin typeface="Arial" panose="020B0604020202020204" pitchFamily="34" charset="0"/>
                <a:cs typeface="Arial" panose="020B0604020202020204" pitchFamily="34" charset="0"/>
              </a:rPr>
              <a:t>Criando Interfaces Simples com </a:t>
            </a:r>
            <a:r>
              <a:rPr lang="pt-BR" sz="7000" dirty="0" err="1"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endParaRPr lang="pt-BR" sz="7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4500" dirty="0">
                <a:latin typeface="Arial" panose="020B0604020202020204" pitchFamily="34" charset="0"/>
                <a:cs typeface="Arial" panose="020B0604020202020204" pitchFamily="34" charset="0"/>
              </a:rPr>
              <a:t>Montando uma página com componentes</a:t>
            </a:r>
          </a:p>
          <a:p>
            <a:pPr lvl="1"/>
            <a:r>
              <a:rPr lang="pt-BR" sz="4500" dirty="0">
                <a:latin typeface="Arial" panose="020B0604020202020204" pitchFamily="34" charset="0"/>
                <a:cs typeface="Arial" panose="020B0604020202020204" pitchFamily="34" charset="0"/>
              </a:rPr>
              <a:t>Integrando HTML e lógica</a:t>
            </a:r>
          </a:p>
          <a:p>
            <a:pPr lvl="1"/>
            <a:r>
              <a:rPr lang="pt-BR" sz="4500" dirty="0">
                <a:latin typeface="Arial" panose="020B0604020202020204" pitchFamily="34" charset="0"/>
                <a:cs typeface="Arial" panose="020B0604020202020204" pitchFamily="34" charset="0"/>
              </a:rPr>
              <a:t>Pequeno projeto guiado</a:t>
            </a:r>
          </a:p>
          <a:p>
            <a:pPr lvl="1"/>
            <a:r>
              <a:rPr lang="pt-BR" sz="4500" dirty="0">
                <a:latin typeface="Arial" panose="020B0604020202020204" pitchFamily="34" charset="0"/>
                <a:cs typeface="Arial" panose="020B0604020202020204" pitchFamily="34" charset="0"/>
              </a:rPr>
              <a:t>Exercícios finais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4836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F49F5-C6DF-B3B2-20D1-B305FA7D7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62C080-DA35-4378-2915-0F2A14C1F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72"/>
            <a:ext cx="10515600" cy="3142075"/>
          </a:xfrm>
        </p:spPr>
        <p:txBody>
          <a:bodyPr>
            <a:normAutofit/>
          </a:bodyPr>
          <a:lstStyle/>
          <a:p>
            <a:r>
              <a:rPr lang="pt-BR" sz="40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1. 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2C4083-8C2B-8339-A79C-A0FD1801E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7727"/>
            <a:ext cx="10861964" cy="13321146"/>
          </a:xfrm>
        </p:spPr>
        <p:txBody>
          <a:bodyPr>
            <a:normAutofit/>
          </a:bodyPr>
          <a:lstStyle/>
          <a:p>
            <a:r>
              <a:rPr lang="pt-BR" sz="3500" b="1" dirty="0"/>
              <a:t>O que é Desenvolvimento Web?</a:t>
            </a:r>
          </a:p>
          <a:p>
            <a:r>
              <a:rPr lang="pt-BR" sz="3500" dirty="0"/>
              <a:t>Desenvolvimento web é a área responsável por criar sites, aplicativos e interfaces que funcionam dentro de navegadores. Ele envolve três pilares principais: HTML, CSS e </a:t>
            </a:r>
            <a:r>
              <a:rPr lang="pt-BR" sz="3500" dirty="0" err="1"/>
              <a:t>JavaScript</a:t>
            </a:r>
            <a:r>
              <a:rPr lang="pt-BR" sz="3500" dirty="0"/>
              <a:t>.</a:t>
            </a:r>
          </a:p>
          <a:p>
            <a:pPr marL="0" indent="0">
              <a:buNone/>
            </a:pPr>
            <a:endParaRPr lang="pt-BR" sz="3500" dirty="0"/>
          </a:p>
          <a:p>
            <a:r>
              <a:rPr lang="pt-BR" sz="3500" dirty="0"/>
              <a:t>Este e-book vai focar em dois desses pilares: </a:t>
            </a:r>
            <a:r>
              <a:rPr lang="pt-BR" sz="3500" b="1" dirty="0"/>
              <a:t>HTML</a:t>
            </a:r>
            <a:r>
              <a:rPr lang="pt-BR" sz="3500" dirty="0"/>
              <a:t>, responsável por estruturar conteúdos, e </a:t>
            </a:r>
            <a:r>
              <a:rPr lang="pt-BR" sz="3500" b="1" dirty="0" err="1"/>
              <a:t>React</a:t>
            </a:r>
            <a:r>
              <a:rPr lang="pt-BR" sz="3500" dirty="0"/>
              <a:t>, uma biblioteca </a:t>
            </a:r>
            <a:r>
              <a:rPr lang="pt-BR" sz="3500" dirty="0" err="1"/>
              <a:t>JavaScript</a:t>
            </a:r>
            <a:r>
              <a:rPr lang="pt-BR" sz="3500" dirty="0"/>
              <a:t> usada para criar interfaces modernas.</a:t>
            </a:r>
          </a:p>
          <a:p>
            <a:endParaRPr lang="pt-BR" sz="3500" dirty="0"/>
          </a:p>
          <a:p>
            <a:r>
              <a:rPr lang="pt-BR" sz="3500" b="1" dirty="0"/>
              <a:t>Como este e-book funciona</a:t>
            </a:r>
          </a:p>
          <a:p>
            <a:r>
              <a:rPr lang="pt-BR" sz="3500" dirty="0"/>
              <a:t>Você vai aprender passo a passo, desde a base do HTML até a criação de componentes em </a:t>
            </a:r>
            <a:r>
              <a:rPr lang="pt-BR" sz="3500" dirty="0" err="1"/>
              <a:t>React</a:t>
            </a:r>
            <a:r>
              <a:rPr lang="pt-BR" sz="3500" dirty="0"/>
              <a:t>. Cada capítulo inclui explicações claras, exemplos e exercícios.</a:t>
            </a:r>
          </a:p>
          <a:p>
            <a:endParaRPr lang="pt-BR" sz="3500" dirty="0"/>
          </a:p>
          <a:p>
            <a:r>
              <a:rPr lang="pt-BR" sz="3500" b="1" dirty="0"/>
              <a:t>O que você vai aprender</a:t>
            </a:r>
          </a:p>
          <a:p>
            <a:r>
              <a:rPr lang="pt-BR" sz="3500" dirty="0"/>
              <a:t>Entender como páginas web são formadas</a:t>
            </a:r>
          </a:p>
          <a:p>
            <a:r>
              <a:rPr lang="pt-BR" sz="3500" dirty="0"/>
              <a:t>Criar estruturas em HTML</a:t>
            </a:r>
          </a:p>
          <a:p>
            <a:r>
              <a:rPr lang="pt-BR" sz="3500" dirty="0"/>
              <a:t>Criar seu primeiro projeto </a:t>
            </a:r>
            <a:r>
              <a:rPr lang="pt-BR" sz="3500" dirty="0" err="1"/>
              <a:t>React</a:t>
            </a:r>
            <a:endParaRPr lang="pt-BR" sz="3500" dirty="0"/>
          </a:p>
          <a:p>
            <a:r>
              <a:rPr lang="pt-BR" sz="3500" dirty="0"/>
              <a:t>Criar componentes reutilizáveis</a:t>
            </a:r>
          </a:p>
          <a:p>
            <a:r>
              <a:rPr lang="pt-BR" sz="3500" dirty="0"/>
              <a:t>Construir interfaces simples combinando HTML e </a:t>
            </a:r>
            <a:r>
              <a:rPr lang="pt-BR" sz="3500" dirty="0" err="1"/>
              <a:t>React</a:t>
            </a:r>
            <a:endParaRPr lang="pt-BR" sz="35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41727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8F1DE-F7D3-C6EA-069B-91E17406A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0F9F65-D7B2-A42F-2B52-C917F2DCA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72"/>
            <a:ext cx="10515600" cy="3142075"/>
          </a:xfrm>
        </p:spPr>
        <p:txBody>
          <a:bodyPr>
            <a:normAutofit/>
          </a:bodyPr>
          <a:lstStyle/>
          <a:p>
            <a:r>
              <a:rPr lang="pt-BR" sz="40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2. FUNDAMENTOS DO HTML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34FA09-74C3-C3E8-8B3C-FBF9A4FF2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7727"/>
            <a:ext cx="10861964" cy="13321146"/>
          </a:xfrm>
        </p:spPr>
        <p:txBody>
          <a:bodyPr>
            <a:normAutofit lnSpcReduction="10000"/>
          </a:bodyPr>
          <a:lstStyle/>
          <a:p>
            <a:r>
              <a:rPr lang="pt-BR" sz="3600" b="1" dirty="0"/>
              <a:t>Estrutura básica</a:t>
            </a:r>
          </a:p>
          <a:p>
            <a:pPr marL="0" indent="0">
              <a:buNone/>
            </a:pPr>
            <a:r>
              <a:rPr lang="pt-BR" sz="3600" dirty="0"/>
              <a:t>Um arquivo HTML começa assim:</a:t>
            </a:r>
          </a:p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endParaRPr lang="pt-BR" sz="3600" dirty="0"/>
          </a:p>
          <a:p>
            <a:r>
              <a:rPr lang="pt-BR" sz="3600" b="1" dirty="0" err="1"/>
              <a:t>Tags</a:t>
            </a:r>
            <a:r>
              <a:rPr lang="pt-BR" sz="3600" b="1" dirty="0"/>
              <a:t> essenciais</a:t>
            </a:r>
          </a:p>
          <a:p>
            <a:endParaRPr lang="pt-BR" sz="3600" b="1" dirty="0"/>
          </a:p>
          <a:p>
            <a:r>
              <a:rPr lang="pt-BR" dirty="0"/>
              <a:t>&lt;h1&gt;</a:t>
            </a:r>
            <a:r>
              <a:rPr lang="pt-BR" sz="3600" dirty="0"/>
              <a:t> a </a:t>
            </a:r>
            <a:r>
              <a:rPr lang="pt-BR" dirty="0"/>
              <a:t>&lt;h6&gt;</a:t>
            </a:r>
            <a:r>
              <a:rPr lang="pt-BR" sz="3600" dirty="0"/>
              <a:t>: títulos</a:t>
            </a:r>
          </a:p>
          <a:p>
            <a:r>
              <a:rPr lang="pt-BR" dirty="0"/>
              <a:t>&lt;p&gt;</a:t>
            </a:r>
            <a:r>
              <a:rPr lang="pt-BR" sz="3600" dirty="0"/>
              <a:t>: parágrafos</a:t>
            </a:r>
          </a:p>
          <a:p>
            <a:r>
              <a:rPr lang="pt-BR" dirty="0"/>
              <a:t>&lt;a&gt;</a:t>
            </a:r>
            <a:r>
              <a:rPr lang="pt-BR" sz="3600" dirty="0"/>
              <a:t>: links</a:t>
            </a:r>
          </a:p>
          <a:p>
            <a:r>
              <a:rPr lang="pt-BR" dirty="0"/>
              <a:t>&lt;</a:t>
            </a:r>
            <a:r>
              <a:rPr lang="pt-BR" dirty="0" err="1"/>
              <a:t>img</a:t>
            </a:r>
            <a:r>
              <a:rPr lang="pt-BR" dirty="0"/>
              <a:t>&gt;</a:t>
            </a:r>
            <a:r>
              <a:rPr lang="pt-BR" sz="3600" dirty="0"/>
              <a:t>: imagens</a:t>
            </a:r>
          </a:p>
          <a:p>
            <a:r>
              <a:rPr lang="pt-BR" dirty="0"/>
              <a:t>&lt;</a:t>
            </a:r>
            <a:r>
              <a:rPr lang="pt-BR" dirty="0" err="1"/>
              <a:t>div</a:t>
            </a:r>
            <a:r>
              <a:rPr lang="pt-BR" dirty="0"/>
              <a:t>&gt;</a:t>
            </a:r>
            <a:r>
              <a:rPr lang="pt-BR" sz="3600" dirty="0"/>
              <a:t>: divisões gerais</a:t>
            </a:r>
          </a:p>
          <a:p>
            <a:endParaRPr lang="pt-BR" sz="3600" dirty="0"/>
          </a:p>
          <a:p>
            <a:r>
              <a:rPr lang="pt-BR" sz="3600" b="1" dirty="0"/>
              <a:t>Exercícios</a:t>
            </a:r>
          </a:p>
          <a:p>
            <a:r>
              <a:rPr lang="pt-BR" sz="3600" dirty="0"/>
              <a:t>Crie um arquivo HTML contendo um título, dois parágrafos e um link.</a:t>
            </a:r>
          </a:p>
          <a:p>
            <a:r>
              <a:rPr lang="pt-BR" sz="3600" dirty="0"/>
              <a:t>Adicione uma imagem usando a </a:t>
            </a:r>
            <a:r>
              <a:rPr lang="pt-BR" sz="3600" dirty="0" err="1"/>
              <a:t>tag</a:t>
            </a:r>
            <a:r>
              <a:rPr lang="pt-BR" sz="3600" dirty="0"/>
              <a:t> </a:t>
            </a:r>
            <a:r>
              <a:rPr lang="pt-BR" dirty="0"/>
              <a:t>&lt;</a:t>
            </a:r>
            <a:r>
              <a:rPr lang="pt-BR" dirty="0" err="1"/>
              <a:t>img</a:t>
            </a:r>
            <a:r>
              <a:rPr lang="pt-BR" dirty="0"/>
              <a:t>&gt;</a:t>
            </a:r>
            <a:r>
              <a:rPr lang="pt-BR" sz="3600" dirty="0"/>
              <a:t>.</a:t>
            </a:r>
          </a:p>
          <a:p>
            <a:endParaRPr lang="pt-BR" sz="3600" dirty="0"/>
          </a:p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endParaRPr lang="pt-BR" sz="3600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FBEE23F-9E56-001F-3EE0-CCF6918B1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36" y="4082758"/>
            <a:ext cx="7570663" cy="383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923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9ECEE-990E-8ED2-6408-B679FCEA5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20FDF4-74FC-4962-D58C-9778CDABE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72"/>
            <a:ext cx="10515600" cy="3142075"/>
          </a:xfrm>
        </p:spPr>
        <p:txBody>
          <a:bodyPr>
            <a:normAutofit/>
          </a:bodyPr>
          <a:lstStyle/>
          <a:p>
            <a:r>
              <a:rPr lang="pt-BR" sz="40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3. ESTRUTURANDO PÁGINAS WEB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3B951E-8A1E-1A06-080C-C407E1DBC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7727"/>
            <a:ext cx="10861964" cy="13321146"/>
          </a:xfrm>
        </p:spPr>
        <p:txBody>
          <a:bodyPr>
            <a:normAutofit/>
          </a:bodyPr>
          <a:lstStyle/>
          <a:p>
            <a:r>
              <a:rPr lang="pt-BR" sz="3600" b="1" dirty="0"/>
              <a:t>Hierarquia e semântica</a:t>
            </a:r>
          </a:p>
          <a:p>
            <a:r>
              <a:rPr lang="pt-BR" sz="3600" dirty="0"/>
              <a:t>HTML possui </a:t>
            </a:r>
            <a:r>
              <a:rPr lang="pt-BR" sz="3600" dirty="0" err="1"/>
              <a:t>tags</a:t>
            </a:r>
            <a:r>
              <a:rPr lang="pt-BR" sz="3600" dirty="0"/>
              <a:t> semânticas como:</a:t>
            </a:r>
          </a:p>
          <a:p>
            <a:r>
              <a:rPr lang="pt-BR" dirty="0"/>
              <a:t>&lt;header&gt;</a:t>
            </a:r>
            <a:endParaRPr lang="pt-BR" sz="3600" dirty="0"/>
          </a:p>
          <a:p>
            <a:r>
              <a:rPr lang="pt-BR" dirty="0"/>
              <a:t>&lt;</a:t>
            </a:r>
            <a:r>
              <a:rPr lang="pt-BR" dirty="0" err="1"/>
              <a:t>nav</a:t>
            </a:r>
            <a:r>
              <a:rPr lang="pt-BR" dirty="0"/>
              <a:t>&gt;</a:t>
            </a:r>
            <a:endParaRPr lang="pt-BR" sz="3600" dirty="0"/>
          </a:p>
          <a:p>
            <a:r>
              <a:rPr lang="pt-BR" dirty="0"/>
              <a:t>&lt;</a:t>
            </a:r>
            <a:r>
              <a:rPr lang="pt-BR" dirty="0" err="1"/>
              <a:t>main</a:t>
            </a:r>
            <a:r>
              <a:rPr lang="pt-BR" dirty="0"/>
              <a:t>&gt;</a:t>
            </a:r>
            <a:endParaRPr lang="pt-BR" sz="3600" dirty="0"/>
          </a:p>
          <a:p>
            <a:r>
              <a:rPr lang="pt-BR" dirty="0"/>
              <a:t>&lt;</a:t>
            </a:r>
            <a:r>
              <a:rPr lang="pt-BR" dirty="0" err="1"/>
              <a:t>section</a:t>
            </a:r>
            <a:r>
              <a:rPr lang="pt-BR" dirty="0"/>
              <a:t>&gt;</a:t>
            </a:r>
            <a:endParaRPr lang="pt-BR" sz="3600" dirty="0"/>
          </a:p>
          <a:p>
            <a:r>
              <a:rPr lang="pt-BR" dirty="0"/>
              <a:t>&lt;</a:t>
            </a:r>
            <a:r>
              <a:rPr lang="pt-BR" dirty="0" err="1"/>
              <a:t>footer</a:t>
            </a:r>
            <a:r>
              <a:rPr lang="pt-BR" dirty="0"/>
              <a:t>&gt;</a:t>
            </a:r>
            <a:endParaRPr lang="pt-BR" sz="3600" dirty="0"/>
          </a:p>
          <a:p>
            <a:r>
              <a:rPr lang="pt-BR" sz="3600" dirty="0"/>
              <a:t>Exemplo: </a:t>
            </a:r>
            <a:r>
              <a:rPr lang="pt-BR" sz="3600" dirty="0" err="1"/>
              <a:t>html</a:t>
            </a:r>
            <a:endParaRPr lang="pt-BR" sz="3600" dirty="0"/>
          </a:p>
          <a:p>
            <a:r>
              <a:rPr lang="pt-BR" sz="3600" b="1" dirty="0" err="1"/>
              <a:t>Divs</a:t>
            </a:r>
            <a:r>
              <a:rPr lang="pt-BR" sz="3600" b="1" dirty="0"/>
              <a:t>, seções e organização</a:t>
            </a:r>
          </a:p>
          <a:p>
            <a:r>
              <a:rPr lang="pt-BR" sz="3600" dirty="0" err="1"/>
              <a:t>html</a:t>
            </a:r>
            <a:endParaRPr lang="pt-BR" sz="3600" dirty="0"/>
          </a:p>
          <a:p>
            <a:r>
              <a:rPr lang="pt-BR" sz="3600" b="1" dirty="0"/>
              <a:t>Textos, links e mídia</a:t>
            </a:r>
          </a:p>
          <a:p>
            <a:r>
              <a:rPr lang="pt-BR" sz="3600" dirty="0" err="1"/>
              <a:t>html</a:t>
            </a:r>
            <a:r>
              <a:rPr lang="pt-BR" sz="3600" dirty="0"/>
              <a:t> Clique aqui</a:t>
            </a:r>
          </a:p>
          <a:p>
            <a:r>
              <a:rPr lang="pt-BR" sz="3600" b="1" dirty="0"/>
              <a:t>Introdução ao CSS</a:t>
            </a:r>
          </a:p>
          <a:p>
            <a:r>
              <a:rPr lang="pt-BR" sz="3600" dirty="0" err="1"/>
              <a:t>html</a:t>
            </a:r>
            <a:endParaRPr lang="pt-BR" sz="3600" dirty="0"/>
          </a:p>
          <a:p>
            <a:r>
              <a:rPr lang="pt-BR" sz="3600" b="1" dirty="0"/>
              <a:t>Exercícios</a:t>
            </a:r>
          </a:p>
          <a:p>
            <a:r>
              <a:rPr lang="pt-BR" sz="3600" dirty="0"/>
              <a:t>Monte uma página com cabeçalho, conteúdo principal e rodapé.</a:t>
            </a:r>
          </a:p>
          <a:p>
            <a:r>
              <a:rPr lang="pt-BR" sz="3600" dirty="0"/>
              <a:t>Estilize dois elementos usando CSS.</a:t>
            </a:r>
          </a:p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endParaRPr lang="pt-BR" sz="36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29222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4917B-3E06-0041-3B7A-8E8BAC0F9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84AEDD-9D9B-22C4-ACB3-2CB08BCBC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72"/>
            <a:ext cx="10515600" cy="3142075"/>
          </a:xfrm>
        </p:spPr>
        <p:txBody>
          <a:bodyPr>
            <a:normAutofit/>
          </a:bodyPr>
          <a:lstStyle/>
          <a:p>
            <a:r>
              <a:rPr lang="pt-BR" sz="40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4. ENTRANDO NO MUNDO DO REACT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F3B5AD-0DCC-D5BC-E919-3356DDE47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7727"/>
            <a:ext cx="10861964" cy="13321146"/>
          </a:xfrm>
        </p:spPr>
        <p:txBody>
          <a:bodyPr>
            <a:normAutofit/>
          </a:bodyPr>
          <a:lstStyle/>
          <a:p>
            <a:r>
              <a:rPr lang="pt-BR" sz="3600" b="1" dirty="0"/>
              <a:t>O que é </a:t>
            </a:r>
            <a:r>
              <a:rPr lang="pt-BR" sz="3600" b="1" dirty="0" err="1"/>
              <a:t>React</a:t>
            </a:r>
            <a:r>
              <a:rPr lang="pt-BR" sz="3600" b="1" dirty="0"/>
              <a:t>?</a:t>
            </a:r>
          </a:p>
          <a:p>
            <a:r>
              <a:rPr lang="pt-BR" sz="3600" dirty="0" err="1"/>
              <a:t>React</a:t>
            </a:r>
            <a:r>
              <a:rPr lang="pt-BR" sz="3600" dirty="0"/>
              <a:t> é uma biblioteca </a:t>
            </a:r>
            <a:r>
              <a:rPr lang="pt-BR" sz="3600" dirty="0" err="1"/>
              <a:t>JavaScript</a:t>
            </a:r>
            <a:r>
              <a:rPr lang="pt-BR" sz="3600" dirty="0"/>
              <a:t> criada pelo Facebook para construir interfaces dinâmicas.</a:t>
            </a:r>
          </a:p>
          <a:p>
            <a:r>
              <a:rPr lang="pt-BR" sz="3600" b="1" dirty="0"/>
              <a:t>Criando um projeto</a:t>
            </a:r>
          </a:p>
          <a:p>
            <a:r>
              <a:rPr lang="pt-BR" sz="3600" dirty="0"/>
              <a:t>Usando o Vite:</a:t>
            </a:r>
          </a:p>
          <a:p>
            <a:r>
              <a:rPr lang="pt-BR" sz="3600" dirty="0" err="1"/>
              <a:t>npm</a:t>
            </a:r>
            <a:r>
              <a:rPr lang="pt-BR" sz="3600" dirty="0"/>
              <a:t> </a:t>
            </a:r>
            <a:r>
              <a:rPr lang="pt-BR" sz="3600" dirty="0" err="1"/>
              <a:t>create</a:t>
            </a:r>
            <a:r>
              <a:rPr lang="pt-BR" sz="3600" dirty="0"/>
              <a:t> </a:t>
            </a:r>
            <a:r>
              <a:rPr lang="pt-BR" sz="3600" dirty="0" err="1"/>
              <a:t>vite@latest</a:t>
            </a:r>
            <a:r>
              <a:rPr lang="pt-BR" sz="3600" dirty="0"/>
              <a:t> meu-app --</a:t>
            </a:r>
            <a:r>
              <a:rPr lang="pt-BR" sz="3600" dirty="0" err="1"/>
              <a:t>template</a:t>
            </a:r>
            <a:r>
              <a:rPr lang="pt-BR" sz="3600" dirty="0"/>
              <a:t> </a:t>
            </a:r>
            <a:r>
              <a:rPr lang="pt-BR" sz="3600" dirty="0" err="1"/>
              <a:t>react</a:t>
            </a:r>
            <a:r>
              <a:rPr lang="pt-BR" sz="3600" dirty="0"/>
              <a:t> </a:t>
            </a:r>
            <a:r>
              <a:rPr lang="pt-BR" sz="3600" dirty="0" err="1"/>
              <a:t>cd</a:t>
            </a:r>
            <a:r>
              <a:rPr lang="pt-BR" sz="3600" dirty="0"/>
              <a:t> meu-app </a:t>
            </a:r>
            <a:r>
              <a:rPr lang="pt-BR" sz="3600" dirty="0" err="1"/>
              <a:t>npm</a:t>
            </a:r>
            <a:r>
              <a:rPr lang="pt-BR" sz="3600" dirty="0"/>
              <a:t> </a:t>
            </a:r>
            <a:r>
              <a:rPr lang="pt-BR" sz="3600" dirty="0" err="1"/>
              <a:t>install</a:t>
            </a:r>
            <a:r>
              <a:rPr lang="pt-BR" sz="3600" dirty="0"/>
              <a:t> </a:t>
            </a:r>
            <a:r>
              <a:rPr lang="pt-BR" sz="3600" dirty="0" err="1"/>
              <a:t>npm</a:t>
            </a:r>
            <a:r>
              <a:rPr lang="pt-BR" sz="3600" dirty="0"/>
              <a:t> </a:t>
            </a:r>
            <a:r>
              <a:rPr lang="pt-BR" sz="3600" dirty="0" err="1"/>
              <a:t>run</a:t>
            </a:r>
            <a:r>
              <a:rPr lang="pt-BR" sz="3600" dirty="0"/>
              <a:t> </a:t>
            </a:r>
            <a:r>
              <a:rPr lang="pt-BR" sz="3600" dirty="0" err="1"/>
              <a:t>dev</a:t>
            </a:r>
            <a:endParaRPr lang="pt-BR" sz="3600" dirty="0"/>
          </a:p>
          <a:p>
            <a:r>
              <a:rPr lang="pt-BR" sz="3600" b="1" dirty="0"/>
              <a:t>Como </a:t>
            </a:r>
            <a:r>
              <a:rPr lang="pt-BR" sz="3600" b="1" dirty="0" err="1"/>
              <a:t>React</a:t>
            </a:r>
            <a:r>
              <a:rPr lang="pt-BR" sz="3600" b="1" dirty="0"/>
              <a:t> funciona</a:t>
            </a:r>
          </a:p>
          <a:p>
            <a:r>
              <a:rPr lang="pt-BR" sz="3600" dirty="0" err="1"/>
              <a:t>React</a:t>
            </a:r>
            <a:r>
              <a:rPr lang="pt-BR" sz="3600" dirty="0"/>
              <a:t> funciona com componentes que reagem à mudança de dados.</a:t>
            </a:r>
          </a:p>
          <a:p>
            <a:r>
              <a:rPr lang="pt-BR" sz="3600" b="1" dirty="0"/>
              <a:t>JSX</a:t>
            </a:r>
          </a:p>
          <a:p>
            <a:r>
              <a:rPr lang="pt-BR" sz="3600" dirty="0"/>
              <a:t>JSX permite escrever HTML dentro do </a:t>
            </a:r>
            <a:r>
              <a:rPr lang="pt-BR" sz="3600" dirty="0" err="1"/>
              <a:t>JavaScript</a:t>
            </a:r>
            <a:r>
              <a:rPr lang="pt-BR" sz="3600" dirty="0"/>
              <a:t>: </a:t>
            </a:r>
            <a:r>
              <a:rPr lang="pt-BR" sz="3600" dirty="0" err="1"/>
              <a:t>jsx</a:t>
            </a:r>
            <a:r>
              <a:rPr lang="pt-BR" sz="3600" dirty="0"/>
              <a:t> </a:t>
            </a:r>
            <a:r>
              <a:rPr lang="pt-BR" sz="3600" dirty="0" err="1"/>
              <a:t>function</a:t>
            </a:r>
            <a:r>
              <a:rPr lang="pt-BR" sz="3600" dirty="0"/>
              <a:t> App() { </a:t>
            </a:r>
            <a:r>
              <a:rPr lang="pt-BR" sz="3600" dirty="0" err="1"/>
              <a:t>return</a:t>
            </a:r>
            <a:r>
              <a:rPr lang="pt-BR" sz="3600" dirty="0"/>
              <a:t> Olá, </a:t>
            </a:r>
            <a:r>
              <a:rPr lang="pt-BR" sz="3600" dirty="0" err="1"/>
              <a:t>React</a:t>
            </a:r>
            <a:r>
              <a:rPr lang="pt-BR" sz="3600" dirty="0"/>
              <a:t>!; }</a:t>
            </a:r>
          </a:p>
          <a:p>
            <a:r>
              <a:rPr lang="pt-BR" sz="3600" b="1" dirty="0"/>
              <a:t>Exercícios</a:t>
            </a:r>
          </a:p>
          <a:p>
            <a:r>
              <a:rPr lang="pt-BR" sz="3600" dirty="0"/>
              <a:t>Instale o </a:t>
            </a:r>
            <a:r>
              <a:rPr lang="pt-BR" sz="3600" dirty="0" err="1"/>
              <a:t>React</a:t>
            </a:r>
            <a:r>
              <a:rPr lang="pt-BR" sz="3600" dirty="0"/>
              <a:t> usando Vite.</a:t>
            </a:r>
          </a:p>
          <a:p>
            <a:r>
              <a:rPr lang="pt-BR" sz="3600" dirty="0"/>
              <a:t>Altere o conteúdo do componente </a:t>
            </a:r>
            <a:r>
              <a:rPr lang="pt-BR" dirty="0"/>
              <a:t>App</a:t>
            </a:r>
            <a:r>
              <a:rPr lang="pt-BR" sz="3600" dirty="0"/>
              <a:t>.</a:t>
            </a:r>
          </a:p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endParaRPr lang="pt-BR" sz="36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02805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D84FE-1E04-B4B0-1226-43F9C1317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382D1-614C-F0F8-1E39-7935254A6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72"/>
            <a:ext cx="10515600" cy="3142075"/>
          </a:xfrm>
        </p:spPr>
        <p:txBody>
          <a:bodyPr>
            <a:normAutofit/>
          </a:bodyPr>
          <a:lstStyle/>
          <a:p>
            <a:r>
              <a:rPr lang="pt-BR" sz="40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5. COMPONENTES DO REACT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4E168A-C949-BFBB-D6CE-3EED69DCB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7727"/>
            <a:ext cx="10861964" cy="1332114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BR" sz="3600" b="1" dirty="0"/>
              <a:t>O que são componentes</a:t>
            </a:r>
          </a:p>
          <a:p>
            <a:pPr>
              <a:lnSpc>
                <a:spcPct val="150000"/>
              </a:lnSpc>
            </a:pPr>
            <a:r>
              <a:rPr lang="pt-BR" sz="3600" dirty="0"/>
              <a:t>São pedaços reutilizáveis da interface.</a:t>
            </a:r>
          </a:p>
          <a:p>
            <a:pPr>
              <a:lnSpc>
                <a:spcPct val="150000"/>
              </a:lnSpc>
            </a:pPr>
            <a:r>
              <a:rPr lang="pt-BR" sz="3600" b="1" dirty="0"/>
              <a:t>Componentes funcionais</a:t>
            </a:r>
          </a:p>
          <a:p>
            <a:pPr>
              <a:lnSpc>
                <a:spcPct val="150000"/>
              </a:lnSpc>
            </a:pPr>
            <a:r>
              <a:rPr lang="pt-BR" sz="3600" dirty="0" err="1"/>
              <a:t>jsx</a:t>
            </a:r>
            <a:r>
              <a:rPr lang="pt-BR" sz="3600" dirty="0"/>
              <a:t> </a:t>
            </a:r>
            <a:r>
              <a:rPr lang="pt-BR" sz="3600" dirty="0" err="1"/>
              <a:t>function</a:t>
            </a:r>
            <a:r>
              <a:rPr lang="pt-BR" sz="3600" dirty="0"/>
              <a:t> Titulo() { </a:t>
            </a:r>
            <a:r>
              <a:rPr lang="pt-BR" sz="3600" dirty="0" err="1"/>
              <a:t>return</a:t>
            </a:r>
            <a:r>
              <a:rPr lang="pt-BR" sz="3600" dirty="0"/>
              <a:t> Sou um componente; }</a:t>
            </a:r>
          </a:p>
          <a:p>
            <a:pPr>
              <a:lnSpc>
                <a:spcPct val="150000"/>
              </a:lnSpc>
            </a:pPr>
            <a:r>
              <a:rPr lang="pt-BR" sz="3600" b="1" dirty="0" err="1"/>
              <a:t>Props</a:t>
            </a:r>
            <a:r>
              <a:rPr lang="pt-BR" sz="3600" b="1" dirty="0"/>
              <a:t> e estado</a:t>
            </a:r>
          </a:p>
          <a:p>
            <a:pPr>
              <a:lnSpc>
                <a:spcPct val="150000"/>
              </a:lnSpc>
            </a:pPr>
            <a:r>
              <a:rPr lang="pt-BR" sz="3600" dirty="0" err="1"/>
              <a:t>jsx</a:t>
            </a:r>
            <a:r>
              <a:rPr lang="pt-BR" sz="3600" dirty="0"/>
              <a:t> </a:t>
            </a:r>
            <a:r>
              <a:rPr lang="pt-BR" sz="3600" dirty="0" err="1"/>
              <a:t>function</a:t>
            </a:r>
            <a:r>
              <a:rPr lang="pt-BR" sz="3600" dirty="0"/>
              <a:t> </a:t>
            </a:r>
            <a:r>
              <a:rPr lang="pt-BR" sz="3600" dirty="0" err="1"/>
              <a:t>Saudacao</a:t>
            </a:r>
            <a:r>
              <a:rPr lang="pt-BR" sz="3600" dirty="0"/>
              <a:t>(</a:t>
            </a:r>
            <a:r>
              <a:rPr lang="pt-BR" sz="3600" dirty="0" err="1"/>
              <a:t>props</a:t>
            </a:r>
            <a:r>
              <a:rPr lang="pt-BR" sz="3600" dirty="0"/>
              <a:t>) { </a:t>
            </a:r>
            <a:r>
              <a:rPr lang="pt-BR" sz="3600" dirty="0" err="1"/>
              <a:t>return</a:t>
            </a:r>
            <a:r>
              <a:rPr lang="pt-BR" sz="3600" dirty="0"/>
              <a:t> Olá, {</a:t>
            </a:r>
            <a:r>
              <a:rPr lang="pt-BR" sz="3600" dirty="0" err="1"/>
              <a:t>props.nome</a:t>
            </a:r>
            <a:r>
              <a:rPr lang="pt-BR" sz="3600" dirty="0"/>
              <a:t>}; }</a:t>
            </a:r>
          </a:p>
          <a:p>
            <a:pPr>
              <a:lnSpc>
                <a:spcPct val="150000"/>
              </a:lnSpc>
            </a:pPr>
            <a:r>
              <a:rPr lang="pt-BR" sz="3600" b="1" dirty="0"/>
              <a:t>Exercícios</a:t>
            </a:r>
          </a:p>
          <a:p>
            <a:pPr>
              <a:lnSpc>
                <a:spcPct val="150000"/>
              </a:lnSpc>
            </a:pPr>
            <a:r>
              <a:rPr lang="pt-BR" sz="3600" dirty="0"/>
              <a:t>Crie um componente que recebe um nome.</a:t>
            </a:r>
          </a:p>
          <a:p>
            <a:pPr>
              <a:lnSpc>
                <a:spcPct val="150000"/>
              </a:lnSpc>
            </a:pPr>
            <a:r>
              <a:rPr lang="pt-BR" sz="3600" dirty="0"/>
              <a:t>Crie um componente de botão estilizado.</a:t>
            </a:r>
          </a:p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endParaRPr lang="pt-BR" sz="36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67860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4CDA3-994B-7C0F-8FC5-A1718260B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F1429E-AFC9-A4D1-60D3-DCEF8DC90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72"/>
            <a:ext cx="10515600" cy="3142075"/>
          </a:xfrm>
        </p:spPr>
        <p:txBody>
          <a:bodyPr>
            <a:normAutofit/>
          </a:bodyPr>
          <a:lstStyle/>
          <a:p>
            <a:r>
              <a:rPr lang="pt-BR" sz="40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6. CRIANDO UMA INTERFACE SIMPLES COM REACT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C95B5D-ACD8-1C7D-779D-F9EAAF570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7727"/>
            <a:ext cx="10861964" cy="1332114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BR" sz="3600" b="1" dirty="0"/>
              <a:t>Montando uma página</a:t>
            </a:r>
          </a:p>
          <a:p>
            <a:pPr>
              <a:lnSpc>
                <a:spcPct val="150000"/>
              </a:lnSpc>
            </a:pPr>
            <a:r>
              <a:rPr lang="pt-BR" sz="3600" dirty="0" err="1"/>
              <a:t>jsx</a:t>
            </a:r>
            <a:r>
              <a:rPr lang="pt-BR" sz="3600" dirty="0"/>
              <a:t> </a:t>
            </a:r>
            <a:r>
              <a:rPr lang="pt-BR" sz="3600" dirty="0" err="1"/>
              <a:t>function</a:t>
            </a:r>
            <a:r>
              <a:rPr lang="pt-BR" sz="3600" dirty="0"/>
              <a:t> App() { </a:t>
            </a:r>
            <a:r>
              <a:rPr lang="pt-BR" sz="3600" dirty="0" err="1"/>
              <a:t>return</a:t>
            </a:r>
            <a:r>
              <a:rPr lang="pt-BR" sz="3600" dirty="0"/>
              <a:t> ( ); }</a:t>
            </a:r>
          </a:p>
          <a:p>
            <a:pPr>
              <a:lnSpc>
                <a:spcPct val="150000"/>
              </a:lnSpc>
            </a:pPr>
            <a:r>
              <a:rPr lang="pt-BR" sz="3600" b="1" dirty="0"/>
              <a:t>Pequeno projeto guiado</a:t>
            </a:r>
          </a:p>
          <a:p>
            <a:pPr>
              <a:lnSpc>
                <a:spcPct val="150000"/>
              </a:lnSpc>
            </a:pPr>
            <a:r>
              <a:rPr lang="pt-BR" sz="3600" dirty="0"/>
              <a:t>Construa uma página com:</a:t>
            </a:r>
          </a:p>
          <a:p>
            <a:pPr>
              <a:lnSpc>
                <a:spcPct val="150000"/>
              </a:lnSpc>
            </a:pPr>
            <a:r>
              <a:rPr lang="pt-BR" sz="3600" dirty="0"/>
              <a:t>Um cabeçalho</a:t>
            </a:r>
          </a:p>
          <a:p>
            <a:pPr>
              <a:lnSpc>
                <a:spcPct val="150000"/>
              </a:lnSpc>
            </a:pPr>
            <a:r>
              <a:rPr lang="pt-BR" sz="3600" dirty="0"/>
              <a:t>Uma lista de itens</a:t>
            </a:r>
          </a:p>
          <a:p>
            <a:pPr>
              <a:lnSpc>
                <a:spcPct val="150000"/>
              </a:lnSpc>
            </a:pPr>
            <a:r>
              <a:rPr lang="pt-BR" sz="3600" dirty="0"/>
              <a:t>Um botão que muda algo na tela</a:t>
            </a:r>
          </a:p>
          <a:p>
            <a:pPr>
              <a:lnSpc>
                <a:spcPct val="150000"/>
              </a:lnSpc>
            </a:pPr>
            <a:r>
              <a:rPr lang="pt-BR" sz="3600" b="1" dirty="0"/>
              <a:t>Exercícios finais</a:t>
            </a:r>
          </a:p>
          <a:p>
            <a:pPr>
              <a:lnSpc>
                <a:spcPct val="150000"/>
              </a:lnSpc>
            </a:pPr>
            <a:r>
              <a:rPr lang="pt-BR" sz="3600" dirty="0"/>
              <a:t>Crie uma pequena interface com três componentes.</a:t>
            </a:r>
          </a:p>
          <a:p>
            <a:pPr>
              <a:lnSpc>
                <a:spcPct val="150000"/>
              </a:lnSpc>
            </a:pPr>
            <a:r>
              <a:rPr lang="pt-BR" sz="3600" dirty="0"/>
              <a:t>Adicione estilos e interatividade simples.</a:t>
            </a:r>
          </a:p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endParaRPr lang="pt-BR" sz="36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234114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</TotalTime>
  <Words>605</Words>
  <Application>Microsoft Office PowerPoint</Application>
  <PresentationFormat>Personalizar</PresentationFormat>
  <Paragraphs>137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Calibri</vt:lpstr>
      <vt:lpstr>Calibri Light</vt:lpstr>
      <vt:lpstr>Tema do Office</vt:lpstr>
      <vt:lpstr>Apresentação do PowerPoint</vt:lpstr>
      <vt:lpstr>Começando do Zero: Construindo Interfaces com HTML e React</vt:lpstr>
      <vt:lpstr>1. INTRODUÇÃO</vt:lpstr>
      <vt:lpstr>2. FUNDAMENTOS DO HTML</vt:lpstr>
      <vt:lpstr>3. ESTRUTURANDO PÁGINAS WEB</vt:lpstr>
      <vt:lpstr>4. ENTRANDO NO MUNDO DO REACT</vt:lpstr>
      <vt:lpstr>5. COMPONENTES DO REACT</vt:lpstr>
      <vt:lpstr>6. CRIANDO UMA INTERFACE SIMPLES COM REACT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Camila Dornelas</dc:creator>
  <cp:lastModifiedBy>Camila Dornelas</cp:lastModifiedBy>
  <cp:revision>1</cp:revision>
  <dcterms:created xsi:type="dcterms:W3CDTF">2025-11-15T17:36:07Z</dcterms:created>
  <dcterms:modified xsi:type="dcterms:W3CDTF">2025-11-15T17:46:55Z</dcterms:modified>
</cp:coreProperties>
</file>